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0ECDA-89D4-4F49-967E-E711DFDC5B4B}" v="82" dt="2026-06-02T03:46:53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Thomas" userId="c8e41b1cef9acc15" providerId="LiveId" clId="{2EC0ECDA-89D4-4F49-967E-E711DFDC5B4B}"/>
    <pc:docChg chg="undo custSel modSld">
      <pc:chgData name="Robert Thomas" userId="c8e41b1cef9acc15" providerId="LiveId" clId="{2EC0ECDA-89D4-4F49-967E-E711DFDC5B4B}" dt="2026-06-02T03:46:21.808" v="72" actId="2085"/>
      <pc:docMkLst>
        <pc:docMk/>
      </pc:docMkLst>
      <pc:sldChg chg="mod">
        <pc:chgData name="Robert Thomas" userId="c8e41b1cef9acc15" providerId="LiveId" clId="{2EC0ECDA-89D4-4F49-967E-E711DFDC5B4B}" dt="2026-06-02T03:31:17.820" v="0" actId="27918"/>
        <pc:sldMkLst>
          <pc:docMk/>
          <pc:sldMk cId="0" sldId="258"/>
        </pc:sldMkLst>
      </pc:sldChg>
      <pc:sldChg chg="modSp mod">
        <pc:chgData name="Robert Thomas" userId="c8e41b1cef9acc15" providerId="LiveId" clId="{2EC0ECDA-89D4-4F49-967E-E711DFDC5B4B}" dt="2026-06-02T03:46:21.808" v="72" actId="2085"/>
        <pc:sldMkLst>
          <pc:docMk/>
          <pc:sldMk cId="0" sldId="259"/>
        </pc:sldMkLst>
        <pc:graphicFrameChg chg="mod">
          <ac:chgData name="Robert Thomas" userId="c8e41b1cef9acc15" providerId="LiveId" clId="{2EC0ECDA-89D4-4F49-967E-E711DFDC5B4B}" dt="2026-06-02T03:46:21.808" v="72" actId="2085"/>
          <ac:graphicFrameMkLst>
            <pc:docMk/>
            <pc:sldMk cId="0" sldId="259"/>
            <ac:graphicFrameMk id="10" creationId="{00000000-0000-0000-0000-000000000000}"/>
          </ac:graphicFrameMkLst>
        </pc:graphicFrameChg>
      </pc:sldChg>
      <pc:sldChg chg="modSp mod">
        <pc:chgData name="Robert Thomas" userId="c8e41b1cef9acc15" providerId="LiveId" clId="{2EC0ECDA-89D4-4F49-967E-E711DFDC5B4B}" dt="2026-06-02T03:37:05.195" v="44"/>
        <pc:sldMkLst>
          <pc:docMk/>
          <pc:sldMk cId="0" sldId="260"/>
        </pc:sldMkLst>
        <pc:graphicFrameChg chg="mod">
          <ac:chgData name="Robert Thomas" userId="c8e41b1cef9acc15" providerId="LiveId" clId="{2EC0ECDA-89D4-4F49-967E-E711DFDC5B4B}" dt="2026-06-02T03:37:05.195" v="44"/>
          <ac:graphicFrameMkLst>
            <pc:docMk/>
            <pc:sldMk cId="0" sldId="260"/>
            <ac:graphicFrameMk id="10" creationId="{00000000-0000-0000-0000-000000000000}"/>
          </ac:graphicFrameMkLst>
        </pc:graphicFrameChg>
      </pc:sldChg>
      <pc:sldChg chg="mod">
        <pc:chgData name="Robert Thomas" userId="c8e41b1cef9acc15" providerId="LiveId" clId="{2EC0ECDA-89D4-4F49-967E-E711DFDC5B4B}" dt="2026-06-02T03:39:10.508" v="45" actId="27918"/>
        <pc:sldMkLst>
          <pc:docMk/>
          <pc:sldMk cId="0" sldId="262"/>
        </pc:sldMkLst>
      </pc:sldChg>
      <pc:sldChg chg="modSp mod">
        <pc:chgData name="Robert Thomas" userId="c8e41b1cef9acc15" providerId="LiveId" clId="{2EC0ECDA-89D4-4F49-967E-E711DFDC5B4B}" dt="2026-06-02T03:41:51.294" v="56" actId="403"/>
        <pc:sldMkLst>
          <pc:docMk/>
          <pc:sldMk cId="0" sldId="263"/>
        </pc:sldMkLst>
        <pc:spChg chg="mod">
          <ac:chgData name="Robert Thomas" userId="c8e41b1cef9acc15" providerId="LiveId" clId="{2EC0ECDA-89D4-4F49-967E-E711DFDC5B4B}" dt="2026-06-02T03:39:33.378" v="49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0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5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7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29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0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1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2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3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4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5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6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7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8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39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0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1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2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3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4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5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6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7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8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49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50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51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52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53" creationId="{00000000-0000-0000-0000-000000000000}"/>
          </ac:spMkLst>
        </pc:spChg>
        <pc:spChg chg="mod">
          <ac:chgData name="Robert Thomas" userId="c8e41b1cef9acc15" providerId="LiveId" clId="{2EC0ECDA-89D4-4F49-967E-E711DFDC5B4B}" dt="2026-06-02T03:41:51.294" v="56" actId="403"/>
          <ac:spMkLst>
            <pc:docMk/>
            <pc:sldMk cId="0" sldId="263"/>
            <ac:spMk id="54" creationId="{00000000-0000-0000-0000-000000000000}"/>
          </ac:spMkLst>
        </pc:spChg>
        <pc:graphicFrameChg chg="mod">
          <ac:chgData name="Robert Thomas" userId="c8e41b1cef9acc15" providerId="LiveId" clId="{2EC0ECDA-89D4-4F49-967E-E711DFDC5B4B}" dt="2026-06-02T03:39:59.030" v="54" actId="404"/>
          <ac:graphicFrameMkLst>
            <pc:docMk/>
            <pc:sldMk cId="0" sldId="263"/>
            <ac:graphicFrameMk id="12" creationId="{00000000-0000-0000-0000-000000000000}"/>
          </ac:graphicFrameMkLst>
        </pc:graphicFrameChg>
      </pc:sldChg>
      <pc:sldChg chg="mod">
        <pc:chgData name="Robert Thomas" userId="c8e41b1cef9acc15" providerId="LiveId" clId="{2EC0ECDA-89D4-4F49-967E-E711DFDC5B4B}" dt="2026-06-02T03:42:13.856" v="57" actId="27918"/>
        <pc:sldMkLst>
          <pc:docMk/>
          <pc:sldMk cId="0" sldId="26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Annual IT Spend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 Spend ($M)</c:v>
                </c:pt>
              </c:strCache>
            </c:strRef>
          </c:tx>
          <c:invertIfNegative val="1"/>
          <c:dPt>
            <c:idx val="0"/>
            <c:invertIfNegative val="0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1-2DF5-410D-8D86-DF88A78FE54B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3-2DF5-410D-8D86-DF88A78FE54B}"/>
              </c:ext>
            </c:extLst>
          </c:dPt>
          <c:dPt>
            <c:idx val="2"/>
            <c:invertIfNegative val="0"/>
            <c:bubble3D val="0"/>
            <c:spPr>
              <a:solidFill>
                <a:srgbClr val="1F6B75"/>
              </a:solidFill>
            </c:spPr>
            <c:extLst>
              <c:ext xmlns:c16="http://schemas.microsoft.com/office/drawing/2014/chart" uri="{C3380CC4-5D6E-409C-BE32-E72D297353CC}">
                <c16:uniqueId val="{00000005-2DF5-410D-8D86-DF88A78FE54B}"/>
              </c:ext>
            </c:extLst>
          </c:dPt>
          <c:dPt>
            <c:idx val="3"/>
            <c:invertIfNegative val="0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7-2DF5-410D-8D86-DF88A78FE54B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9-2DF5-410D-8D86-DF88A78FE54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</c:v>
                </c:pt>
                <c:pt idx="1">
                  <c:v>141.5</c:v>
                </c:pt>
                <c:pt idx="2">
                  <c:v>135.30000000000001</c:v>
                </c:pt>
                <c:pt idx="3">
                  <c:v>139.1</c:v>
                </c:pt>
                <c:pt idx="4">
                  <c:v>134.30000000000001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DF5-410D-8D86-DF88A78FE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/>
              <a:t>5-Year Spend Mix ($M)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07F-4701-B5B4-270FA45249EA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07F-4701-B5B4-270FA45249EA}"/>
              </c:ext>
            </c:extLst>
          </c:dPt>
          <c:dPt>
            <c:idx val="2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07F-4701-B5B4-270FA45249EA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07F-4701-B5B4-270FA45249EA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Project (35.8%)</c:v>
                </c:pt>
                <c:pt idx="1">
                  <c:v>Cloud (26.9%)</c:v>
                </c:pt>
                <c:pt idx="2">
                  <c:v>Infrastructure (22.6%)</c:v>
                </c:pt>
                <c:pt idx="3">
                  <c:v>Software (14.7%)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245.6</c:v>
                </c:pt>
                <c:pt idx="1">
                  <c:v>184.7</c:v>
                </c:pt>
                <c:pt idx="2">
                  <c:v>154.9</c:v>
                </c:pt>
                <c:pt idx="3">
                  <c:v>101.1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7F-4701-B5B4-270FA4524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Annual Spend by Business Unit ($M)</a:t>
            </a:r>
          </a:p>
        </c:rich>
      </c:tx>
      <c:layout>
        <c:manualLayout>
          <c:xMode val="edge"/>
          <c:yMode val="edge"/>
          <c:x val="0.24119791666666668"/>
          <c:y val="2.5025025025025025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5232802930883638"/>
          <c:y val="4.254254254254252E-3"/>
          <c:w val="0.84767197069116362"/>
          <c:h val="0.8706206206206206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Digital Platforms</c:v>
                </c:pt>
              </c:strCache>
            </c:strRef>
          </c:tx>
          <c:spPr>
            <a:solidFill>
              <a:srgbClr val="4472C4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40.6</c:v>
                </c:pt>
                <c:pt idx="2">
                  <c:v>36.4</c:v>
                </c:pt>
                <c:pt idx="3">
                  <c:v>38.299999999999997</c:v>
                </c:pt>
                <c:pt idx="4">
                  <c:v>37.1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112-48D7-869B-0788A7870F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Infrastructure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30.3</c:v>
                </c:pt>
                <c:pt idx="1">
                  <c:v>32.1</c:v>
                </c:pt>
                <c:pt idx="2">
                  <c:v>32.200000000000003</c:v>
                </c:pt>
                <c:pt idx="3">
                  <c:v>30.2</c:v>
                </c:pt>
                <c:pt idx="4">
                  <c:v>26.7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112-48D7-869B-0788A7870F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Corporate Applications</c:v>
                </c:pt>
              </c:strCache>
            </c:strRef>
          </c:tx>
          <c:spPr>
            <a:solidFill>
              <a:srgbClr val="1F6B75"/>
            </a:solidFill>
          </c:spPr>
          <c:invertIfNegative val="1"/>
          <c:dLbls>
            <c:dLbl>
              <c:idx val="4"/>
              <c:layout>
                <c:manualLayout>
                  <c:x val="0"/>
                  <c:y val="-1.0010010010010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112-48D7-869B-0788A7870FB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24.3</c:v>
                </c:pt>
                <c:pt idx="1">
                  <c:v>26.3</c:v>
                </c:pt>
                <c:pt idx="2">
                  <c:v>25.6</c:v>
                </c:pt>
                <c:pt idx="3">
                  <c:v>26.8</c:v>
                </c:pt>
                <c:pt idx="4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112-48D7-869B-0788A7870F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 &amp; Analytics</c:v>
                </c:pt>
              </c:strCache>
            </c:strRef>
          </c:tx>
          <c:spPr>
            <a:solidFill>
              <a:srgbClr val="70AD47"/>
            </a:solidFill>
          </c:spPr>
          <c:invertIfNegative val="1"/>
          <c:dLbls>
            <c:dLbl>
              <c:idx val="4"/>
              <c:layout>
                <c:manualLayout>
                  <c:x val="0"/>
                  <c:y val="-1.25125125125125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112-48D7-869B-0788A7870FB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24</c:v>
                </c:pt>
                <c:pt idx="1">
                  <c:v>24.6</c:v>
                </c:pt>
                <c:pt idx="2">
                  <c:v>23.1</c:v>
                </c:pt>
                <c:pt idx="3">
                  <c:v>25.9</c:v>
                </c:pt>
                <c:pt idx="4">
                  <c:v>22.5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112-48D7-869B-0788A7870FB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Cybersecurity &amp; Risk</c:v>
                </c:pt>
              </c:strCache>
            </c:strRef>
          </c:tx>
          <c:spPr>
            <a:solidFill>
              <a:srgbClr val="ED7D31"/>
            </a:solidFill>
          </c:spPr>
          <c:invertIfNegative val="1"/>
          <c:dLbls>
            <c:dLbl>
              <c:idx val="4"/>
              <c:layout>
                <c:manualLayout>
                  <c:x val="-5.2083333333333972E-3"/>
                  <c:y val="-1.251251251251251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12-48D7-869B-0788A7870FB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19.399999999999999</c:v>
                </c:pt>
                <c:pt idx="1">
                  <c:v>18</c:v>
                </c:pt>
                <c:pt idx="2">
                  <c:v>18.100000000000001</c:v>
                </c:pt>
                <c:pt idx="3">
                  <c:v>17.899999999999999</c:v>
                </c:pt>
                <c:pt idx="4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112-48D7-869B-0788A7870F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Top 10 Vendors by 5-Year Spend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4472C4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Cisco</c:v>
                </c:pt>
                <c:pt idx="1">
                  <c:v>HP Enterprise</c:v>
                </c:pt>
                <c:pt idx="2">
                  <c:v>Dell</c:v>
                </c:pt>
                <c:pt idx="3">
                  <c:v>NetApp</c:v>
                </c:pt>
                <c:pt idx="4">
                  <c:v>Lenovo</c:v>
                </c:pt>
                <c:pt idx="5">
                  <c:v>Cognizant</c:v>
                </c:pt>
                <c:pt idx="6">
                  <c:v>CDW</c:v>
                </c:pt>
                <c:pt idx="7">
                  <c:v>Accenture</c:v>
                </c:pt>
                <c:pt idx="8">
                  <c:v>Infosys</c:v>
                </c:pt>
                <c:pt idx="9">
                  <c:v>Deloitte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78.3</c:v>
                </c:pt>
                <c:pt idx="1">
                  <c:v>66</c:v>
                </c:pt>
                <c:pt idx="2">
                  <c:v>64.400000000000006</c:v>
                </c:pt>
                <c:pt idx="3">
                  <c:v>63.9</c:v>
                </c:pt>
                <c:pt idx="4">
                  <c:v>61</c:v>
                </c:pt>
                <c:pt idx="5">
                  <c:v>28.4</c:v>
                </c:pt>
                <c:pt idx="6">
                  <c:v>26.8</c:v>
                </c:pt>
                <c:pt idx="7">
                  <c:v>26.3</c:v>
                </c:pt>
                <c:pt idx="8">
                  <c:v>26.1</c:v>
                </c:pt>
                <c:pt idx="9">
                  <c:v>25.1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1C-4AD2-BBDD-FE1CD933CF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Project vs. Run Spend — Annual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 Spend ($M)</c:v>
                </c:pt>
              </c:strCache>
            </c:strRef>
          </c:tx>
          <c:spPr>
            <a:solidFill>
              <a:srgbClr val="375623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47.5</c:v>
                </c:pt>
                <c:pt idx="1">
                  <c:v>49.4</c:v>
                </c:pt>
                <c:pt idx="2">
                  <c:v>49.6</c:v>
                </c:pt>
                <c:pt idx="3">
                  <c:v>49.7</c:v>
                </c:pt>
                <c:pt idx="4">
                  <c:v>49.4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838-4BC8-A82D-BDD45FD1E9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Spend ($M)</c:v>
                </c:pt>
              </c:strCache>
            </c:strRef>
          </c:tx>
          <c:spPr>
            <a:solidFill>
              <a:srgbClr val="4472C4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88.5</c:v>
                </c:pt>
                <c:pt idx="1">
                  <c:v>92.1</c:v>
                </c:pt>
                <c:pt idx="2">
                  <c:v>85.7</c:v>
                </c:pt>
                <c:pt idx="3">
                  <c:v>89.4</c:v>
                </c:pt>
                <c:pt idx="4">
                  <c:v>84.9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838-4BC8-A82D-BDD45FD1E9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9596989829396325"/>
          <c:y val="0.92441029524693663"/>
          <c:w val="0.6219490923009624"/>
          <c:h val="7.050893145936811E-2"/>
        </c:manualLayout>
      </c:layout>
      <c:overlay val="1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Cloud vs. Project vs. Infrastructure Trend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 Total ($M)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38.799999999999997</c:v>
                </c:pt>
                <c:pt idx="1">
                  <c:v>37.700000000000003</c:v>
                </c:pt>
                <c:pt idx="2">
                  <c:v>35.799999999999997</c:v>
                </c:pt>
                <c:pt idx="3">
                  <c:v>36.6</c:v>
                </c:pt>
                <c:pt idx="4">
                  <c:v>35.9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C5-4AF8-83A3-01D7B2E913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 ($M)</c:v>
                </c:pt>
              </c:strCache>
            </c:strRef>
          </c:tx>
          <c:spPr>
            <a:ln w="25400">
              <a:solidFill>
                <a:srgbClr val="2F559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47.5</c:v>
                </c:pt>
                <c:pt idx="1">
                  <c:v>49.4</c:v>
                </c:pt>
                <c:pt idx="2">
                  <c:v>49.6</c:v>
                </c:pt>
                <c:pt idx="3">
                  <c:v>49.7</c:v>
                </c:pt>
                <c:pt idx="4">
                  <c:v>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C5-4AF8-83A3-01D7B2E913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Infrastructure ($M)</c:v>
                </c:pt>
              </c:strCache>
            </c:strRef>
          </c:tx>
          <c:spPr>
            <a:ln w="25400">
              <a:solidFill>
                <a:srgbClr val="1F6B75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</c:v>
                </c:pt>
                <c:pt idx="1">
                  <c:v>32.5</c:v>
                </c:pt>
                <c:pt idx="2">
                  <c:v>30.3</c:v>
                </c:pt>
                <c:pt idx="3">
                  <c:v>31.8</c:v>
                </c:pt>
                <c:pt idx="4">
                  <c:v>29.4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C5-4AF8-83A3-01D7B2E91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73152" cy="2926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IT FINANCE PORTFOLIO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  <a:latin typeface="Calibri"/>
              </a:rPr>
              <a:t>FY2021 – FY2025  |  Five-Year Financial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Nexora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Prepared for: Marcus Ellison, 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6A6A6"/>
                </a:solidFill>
                <a:latin typeface="Calibri"/>
              </a:rPr>
              <a:t>June 2026  |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20640"/>
            <a:ext cx="2560320" cy="1051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5166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$686.3M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669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Calibri"/>
              </a:rPr>
              <a:t>Total IT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5120640"/>
            <a:ext cx="2560320" cy="1051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5166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669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Calibri"/>
              </a:rPr>
              <a:t>Analysis Period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5120640"/>
            <a:ext cx="2560320" cy="1051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69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Calibri"/>
              </a:rPr>
              <a:t>Active Vendors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120640"/>
            <a:ext cx="2560320" cy="1051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5166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19,884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669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Calibri"/>
              </a:rPr>
              <a:t>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Nexora Technologies  |  IT Finance Portfolio  |  FY2021–FY2025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2194560" cy="1078992"/>
          </a:xfrm>
          <a:prstGeom prst="rect">
            <a:avLst/>
          </a:prstGeom>
          <a:solidFill>
            <a:srgbClr val="1F386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18872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DD7EE"/>
                </a:solidFill>
                <a:latin typeface="Calibri"/>
              </a:rPr>
              <a:t>Total IT Spend (5-Yr)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1444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$686.3M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" y="19202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BDD7EE"/>
                </a:solidFill>
                <a:latin typeface="Calibri"/>
              </a:rPr>
              <a:t>FY2021–2025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48840"/>
            <a:ext cx="219456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97480" y="1115568"/>
            <a:ext cx="2194560" cy="1078992"/>
          </a:xfrm>
          <a:prstGeom prst="rect">
            <a:avLst/>
          </a:prstGeom>
          <a:solidFill>
            <a:srgbClr val="1F386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118872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DD7EE"/>
                </a:solidFill>
                <a:latin typeface="Calibri"/>
              </a:rPr>
              <a:t>Avg Annual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44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$137.3M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202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BDD7EE"/>
                </a:solidFill>
                <a:latin typeface="Calibri"/>
              </a:rPr>
              <a:t>per fiscal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148840"/>
            <a:ext cx="219456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74920" y="1115568"/>
            <a:ext cx="2194560" cy="1078992"/>
          </a:xfrm>
          <a:prstGeom prst="rect">
            <a:avLst/>
          </a:prstGeom>
          <a:solidFill>
            <a:srgbClr val="1F386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59" y="118872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DD7EE"/>
                </a:solidFill>
                <a:latin typeface="Calibri"/>
              </a:rPr>
              <a:t>Project Spend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444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202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BDD7EE"/>
                </a:solidFill>
                <a:latin typeface="Calibri"/>
              </a:rPr>
              <a:t>of total portfolio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148840"/>
            <a:ext cx="219456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1115568"/>
            <a:ext cx="2194560" cy="1078992"/>
          </a:xfrm>
          <a:prstGeom prst="rect">
            <a:avLst/>
          </a:prstGeom>
          <a:solidFill>
            <a:srgbClr val="1F386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118872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DD7EE"/>
                </a:solidFill>
                <a:latin typeface="Calibri"/>
              </a:rPr>
              <a:t>Vendor Concentration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444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48.6%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9202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BDD7EE"/>
                </a:solidFill>
                <a:latin typeface="Calibri"/>
              </a:rPr>
              <a:t>top 5 = $333.6M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148840"/>
            <a:ext cx="219456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29800" y="1115568"/>
            <a:ext cx="2194560" cy="1078992"/>
          </a:xfrm>
          <a:prstGeom prst="rect">
            <a:avLst/>
          </a:prstGeom>
          <a:solidFill>
            <a:srgbClr val="1F386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21240" y="118872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DD7EE"/>
                </a:solidFill>
                <a:latin typeface="Calibri"/>
              </a:rPr>
              <a:t>Cybersecurity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444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13.6%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9202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BDD7EE"/>
                </a:solidFill>
                <a:latin typeface="Calibri"/>
              </a:rPr>
              <a:t>vs 15–20% benchmark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2148840"/>
            <a:ext cx="219456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2377440"/>
            <a:ext cx="11521440" cy="29260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239572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  FIVE KEY FINDINGS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743200"/>
            <a:ext cx="347472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" y="2743200"/>
            <a:ext cx="11173968" cy="5486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2779776"/>
            <a:ext cx="10972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IT spend peaked at $141.5M in FY2022, then contracted to $134.3M by FY2025. No consistent growth trajectory — budget oscillates in a $135M–$142M band.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410712"/>
            <a:ext cx="347472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410712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" y="3410712"/>
            <a:ext cx="1117396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3447288"/>
            <a:ext cx="10972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Digital Platforms ($190.4M, 27.7%) is the largest BU, reflecting strategic priority on customer-facing platforms. Enterprise Infrastructure declining at -2.7% CAGR — aging asset risk.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78224"/>
            <a:ext cx="347472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4078224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" y="4078224"/>
            <a:ext cx="11173968" cy="5486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114800"/>
            <a:ext cx="10972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Project spend has been flat at ~$49M/year across all 5 years (range: $47.5M–$49.7M). This is a fixed budget ceiling, not strategy-driven investment. Requires zero-based review.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45736"/>
            <a:ext cx="347472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4745736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" y="4745736"/>
            <a:ext cx="1117396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4782312"/>
            <a:ext cx="10972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Top 5 vendors — Cisco, HPE, Dell, NetApp, Lenovo — control $333.6M (48.6% of total spend). High concentration risk but also significant multi-year contract renegotiation leverage.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413248"/>
            <a:ext cx="347472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5413248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" y="5413248"/>
            <a:ext cx="11173968" cy="5486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9808" y="5449824"/>
            <a:ext cx="10972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Cybersecurity &amp; Risk at $93.4M (13.6%) is below the 15–20% industry benchmark. Cloud spend declining 7.4% over 5 years — strategic underinvestment or optimization gap?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Total IT Spend  |  FY2021–FY2025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5-year portfolio overview — $686.3M total across 60 months of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17322"/>
              </p:ext>
            </p:extLst>
          </p:nvPr>
        </p:nvGraphicFramePr>
        <p:xfrm>
          <a:off x="320040" y="1188720"/>
          <a:ext cx="7132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726679" y="1325880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3807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FY2021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3807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  <a:latin typeface="Calibri"/>
              </a:rPr>
              <a:t>$136.0M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3807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6A6A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7647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6A6A6"/>
                </a:solidFill>
                <a:latin typeface="Calibri"/>
              </a:rP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221991"/>
            <a:ext cx="4114800" cy="8229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227685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FY2022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2768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  <a:latin typeface="Calibri"/>
              </a:rPr>
              <a:t>$141.5M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5623"/>
                </a:solidFill>
                <a:latin typeface="Calibri"/>
              </a:rPr>
              <a:t>+4.0% 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66090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6A6A6"/>
                </a:solidFill>
                <a:latin typeface="Calibri"/>
              </a:rPr>
              <a:t>Peak year — infra surge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118104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1729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FY2023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172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  <a:latin typeface="Calibri"/>
              </a:rPr>
              <a:t>$135.3M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1729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00000"/>
                </a:solidFill>
                <a:latin typeface="Calibri"/>
              </a:rPr>
              <a:t>−4.4%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5570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6A6A6"/>
                </a:solidFill>
                <a:latin typeface="Calibri"/>
              </a:rPr>
              <a:t>Strategic cost 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014215"/>
            <a:ext cx="4114800" cy="8229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7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FY2024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06907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  <a:latin typeface="Calibri"/>
              </a:rPr>
              <a:t>$139.1M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06907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5623"/>
                </a:solidFill>
                <a:latin typeface="Calibri"/>
              </a:rPr>
              <a:t>+2.8% 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45312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6A6A6"/>
                </a:solidFill>
                <a:latin typeface="Calibri"/>
              </a:rPr>
              <a:t>Partial 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910328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49651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FY2025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9651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  <a:latin typeface="Calibri"/>
              </a:rPr>
              <a:t>$134.3M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9651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00000"/>
                </a:solidFill>
                <a:latin typeface="Calibri"/>
              </a:rPr>
              <a:t>−3.4% 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349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6A6A6"/>
                </a:solidFill>
                <a:latin typeface="Calibri"/>
              </a:rPr>
              <a:t>Contraction — enterprise infra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199632"/>
            <a:ext cx="11521440" cy="502920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23620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F3864"/>
                </a:solidFill>
                <a:latin typeface="Calibri"/>
              </a:rPr>
              <a:t>Spend oscillates within a $135M–$142M band — no sustained growth trajectory. FY2022's $141.5M peak was driven by $49.4M in project spend and $92.1M run. FY2025 contraction (-3.4%) most acute in Enterprise Infrastructure (-11.6% YoY). The data does not support organic growth — this portfolio needs strategic sizing.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IT Spend Mix  |  What the Money Buys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Four spend categories across $686.3M — Project, Cloud, Infrastructure,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84038"/>
              </p:ext>
            </p:extLst>
          </p:nvPr>
        </p:nvGraphicFramePr>
        <p:xfrm>
          <a:off x="320040" y="1143000"/>
          <a:ext cx="59436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1170432"/>
            <a:ext cx="5394960" cy="1188720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243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435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  <a:latin typeface="Calibri"/>
              </a:rPr>
              <a:t>$245.6M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2435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75623"/>
                </a:solidFill>
                <a:latin typeface="Calibri"/>
              </a:rPr>
              <a:t>35.8%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6093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FY2021: $47.5M  →  FY2025: $49.4M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  <a:latin typeface="Calibri"/>
              </a:rPr>
              <a:t>Discretionary transformation. Flat at ~$49M/yr — fixed ceiling detected.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496312"/>
            <a:ext cx="5394960" cy="1188720"/>
          </a:xfrm>
          <a:prstGeom prst="rect">
            <a:avLst/>
          </a:prstGeom>
          <a:solidFill>
            <a:srgbClr val="DCE6F1"/>
          </a:solidFill>
          <a:ln w="63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5694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597"/>
                </a:solidFill>
                <a:latin typeface="Calibri"/>
              </a:rP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56946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F5597"/>
                </a:solidFill>
                <a:latin typeface="Calibri"/>
              </a:rPr>
              <a:t>$184.7M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5694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F5597"/>
                </a:solidFill>
                <a:latin typeface="Calibri"/>
              </a:rPr>
              <a:t>26.9%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352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FY2021: $38.8M  →  FY2025: $35.9M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246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  <a:latin typeface="Calibri"/>
              </a:rPr>
              <a:t>Cloud hosting + data platforms. Declining 7.4% over 5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822191"/>
            <a:ext cx="5394960" cy="118872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895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8953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D7D31"/>
                </a:solidFill>
                <a:latin typeface="Calibri"/>
              </a:rPr>
              <a:t>$154.9M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8953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22.6%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611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FY2021: $31.0M  →  FY2025: $29.4M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572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  <a:latin typeface="Calibri"/>
              </a:rPr>
              <a:t>On-prem hardware. Declining — aging infrastructure risk.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5148072"/>
            <a:ext cx="5394960" cy="1188720"/>
          </a:xfrm>
          <a:prstGeom prst="rect">
            <a:avLst/>
          </a:prstGeom>
          <a:solidFill>
            <a:srgbClr val="EBF1F9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52212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2212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4472C4"/>
                </a:solidFill>
                <a:latin typeface="Calibri"/>
              </a:rPr>
              <a:t>$101.1M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2212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14.7%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8698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FY2021: $18.9M  →  FY2025: $19.7M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897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  <a:latin typeface="Calibri"/>
              </a:rPr>
              <a:t>Licensing + SaaS. Stable, modest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Unit Spend  |  5-Year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Five BUs — $686.3M portfolio — accountability by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43964"/>
              </p:ext>
            </p:extLst>
          </p:nvPr>
        </p:nvGraphicFramePr>
        <p:xfrm>
          <a:off x="320040" y="969264"/>
          <a:ext cx="731520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63840" y="1234440"/>
            <a:ext cx="4023360" cy="91440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1280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Digital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1280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$190.4M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5819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04040"/>
                </a:solidFill>
                <a:latin typeface="Calibri"/>
              </a:rPr>
              <a:t>27.7%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5819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  <a:latin typeface="Calibri"/>
              </a:rPr>
              <a:t>-2.1%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1856232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Andre Holloway, CDO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221992"/>
            <a:ext cx="4023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267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Enterprise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22677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$151.3M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5694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22.0%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5694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  <a:latin typeface="Calibri"/>
              </a:rPr>
              <a:t>-3.2%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84378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Sandra Whitmore, SVP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209544"/>
            <a:ext cx="4023360" cy="91440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3255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Corporate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32552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$130.9M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5570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5570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75623"/>
                </a:solidFill>
                <a:latin typeface="Calibri"/>
              </a:rPr>
              <a:t>+3.6% CAGR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83133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Monica Reeves, VP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4197096"/>
            <a:ext cx="4023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42428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Data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4242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$120.1M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45445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17.5%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54456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  <a:latin typeface="Calibri"/>
              </a:rPr>
              <a:t>-1.6% CAGR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81888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Victor Ramsey, CDO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5184648"/>
            <a:ext cx="4023360" cy="91440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73568" y="5230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Cybersecurity &amp;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72C4"/>
                </a:solidFill>
                <a:latin typeface="Calibri"/>
              </a:rPr>
              <a:t>$93.4M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5532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13.6%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55321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75623"/>
                </a:solidFill>
                <a:latin typeface="Calibri"/>
              </a:rPr>
              <a:t>+0.7% CAGR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580644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Leah McIntyre, CISO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199632"/>
            <a:ext cx="11521440" cy="502920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23620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F3864"/>
                </a:solidFill>
                <a:latin typeface="Calibri"/>
              </a:rPr>
              <a:t>Cybersecurity at 13.6% is below the 15–20% industry benchmark — a board-level risk. Enterprise Infrastructure declined 12% from FY2021→FY2025 ($30.3M→$26.7M): aging infrastructure risk. Corporate Applications is the only BU with consistent CAGR growth (+3.6%) — reflecting sustained enterprise application modernization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 Center Analysis  |  12 Cost Centers Ranked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Where budget actually lands — spend by cost center and business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320040" cy="347472"/>
          </a:xfrm>
          <a:prstGeom prst="rect">
            <a:avLst/>
          </a:prstGeom>
          <a:solidFill>
            <a:srgbClr val="1F3864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" y="1197864"/>
            <a:ext cx="22859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170432"/>
            <a:ext cx="3291840" cy="347472"/>
          </a:xfrm>
          <a:prstGeom prst="rect">
            <a:avLst/>
          </a:prstGeom>
          <a:solidFill>
            <a:srgbClr val="1F3864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119786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Cost Center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170432"/>
            <a:ext cx="2331720" cy="347472"/>
          </a:xfrm>
          <a:prstGeom prst="rect">
            <a:avLst/>
          </a:prstGeom>
          <a:solidFill>
            <a:srgbClr val="1F3864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86783" y="1197864"/>
            <a:ext cx="22402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Business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1280160" cy="347472"/>
          </a:xfrm>
          <a:prstGeom prst="rect">
            <a:avLst/>
          </a:prstGeom>
          <a:solidFill>
            <a:srgbClr val="1F3864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3" y="1197864"/>
            <a:ext cx="1188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5-Yr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170432"/>
            <a:ext cx="1005840" cy="347472"/>
          </a:xfrm>
          <a:prstGeom prst="rect">
            <a:avLst/>
          </a:prstGeom>
          <a:solidFill>
            <a:srgbClr val="1F3864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98664" y="119786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% of BU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517904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" y="1545336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517904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1545336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Customer Experience Platforms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517904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86783" y="1545336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Digital Platforms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517904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8503" y="1545336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$74.1M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517904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98664" y="1545336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38.9%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1924812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4904" y="1952243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1924812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" y="1952243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AI Enablement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1924812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6783" y="1952243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924812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8503" y="1952243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$68.1M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1924812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98664" y="1952243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56.7%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331720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4904" y="2359151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2331720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" y="2359151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Mobile 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2331720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86783" y="2359151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Digital Platforms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2331720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18503" y="2359151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$66.9M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800" y="2331720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98664" y="2359151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35.1%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2738628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4904" y="2766060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2738628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4944" y="276606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HR Applications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2738628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86783" y="2766060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Corporate Applications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2738628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18503" y="2766060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$65.5M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43800" y="2738628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98664" y="2766060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50.1%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145536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4904" y="3172968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145536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4944" y="3172968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ERP Transformation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3145536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86783" y="3172968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Corporate Applications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145536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18503" y="3172968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$65.4M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43800" y="3145536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98664" y="3172968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50.0%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552444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4904" y="3579875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3552444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4944" y="3579875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Enterprise BI Reporting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3552444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86783" y="3579875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Data &amp; Analytics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3552444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18503" y="3579875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$52.0M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43800" y="3552444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98664" y="3579875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43.3%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3959352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74904" y="3986784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" y="3959352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94944" y="3986784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Infrastructure Automation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3959352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86783" y="3986784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Enterprise Infra.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3959352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18503" y="3986784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$51.9M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43800" y="3959352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98664" y="3986784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34.3%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366260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4393692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" y="4366260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4944" y="4393692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Cloud Infrastructure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931920" y="4366260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986783" y="4393692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Enterprise Infra.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4366260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18503" y="4393692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$51.0M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43800" y="4366260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598664" y="4393692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33.7%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4773168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904" y="4800600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773168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4" y="480060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Digital Commerce Systems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31920" y="4773168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986783" y="4800600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Digital Platforms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63640" y="4773168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318503" y="4800600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$49.4M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43800" y="4773168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98664" y="4800600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25.9%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" y="5180076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74904" y="5207508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0080" y="5180076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94944" y="5207508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Network Services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931920" y="5180076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86783" y="5207508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Enterprise Infra.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63640" y="5180076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18503" y="5207508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$48.6M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543800" y="5180076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598664" y="5207508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32.1%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" y="5586984"/>
            <a:ext cx="320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74904" y="5614416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11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" y="5586984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94944" y="5614416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Security Operations Center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931920" y="5586984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986783" y="5614416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Cybersecurity &amp; Risk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263640" y="5586984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318503" y="5614416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$47.1M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43800" y="5586984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598664" y="5614416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50.5%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0040" y="5993892"/>
            <a:ext cx="3200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74904" y="6021324"/>
            <a:ext cx="228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  <a:latin typeface="Calibri"/>
              </a:rPr>
              <a:t>12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" y="5993892"/>
            <a:ext cx="3291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94944" y="6021324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Identity &amp; Access Mgmt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931920" y="5993892"/>
            <a:ext cx="233172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986783" y="6021324"/>
            <a:ext cx="2240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Cybersecurity &amp; Risk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63640" y="5993892"/>
            <a:ext cx="128016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318503" y="6021324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$46.3M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543800" y="5993892"/>
            <a:ext cx="1005840" cy="384048"/>
          </a:xfrm>
          <a:prstGeom prst="rect">
            <a:avLst/>
          </a:prstGeom>
          <a:solidFill>
            <a:srgbClr val="DCE6F1"/>
          </a:solidFill>
          <a:ln w="381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598664" y="6021324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49.5%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778240" y="1188720"/>
            <a:ext cx="3108960" cy="1645920"/>
          </a:xfrm>
          <a:prstGeom prst="rect">
            <a:avLst/>
          </a:prstGeom>
          <a:solidFill>
            <a:srgbClr val="FCE4D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915400" y="1280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alibri"/>
              </a:rPr>
              <a:t>⚠ AI CONCENTRATION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915400" y="160020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AI Enablement = 56.7% of D&amp;A budget ($68.1M). Strong AI investment — needs ROI governance.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778240" y="2971800"/>
            <a:ext cx="3108960" cy="164592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915400" y="3063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  <a:latin typeface="Calibri"/>
              </a:rPr>
              <a:t>⚠ SECURITY SPLIT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15400" y="338328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SOC ($47.1M) + IAM ($46.3M) = $93.4M total. Nearly 50/50 split — review allocation logic.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778240" y="4754880"/>
            <a:ext cx="3108960" cy="1645920"/>
          </a:xfrm>
          <a:prstGeom prst="rect">
            <a:avLst/>
          </a:prstGeom>
          <a:solidFill>
            <a:srgbClr val="DCE6F1"/>
          </a:solidFill>
          <a:ln w="63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915400" y="4846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F5597"/>
                </a:solidFill>
                <a:latin typeface="Calibri"/>
              </a:rPr>
              <a:t>★ LARGEST CC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915400" y="516636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Customer Experience Platforms ($74.1M) is the single largest cost center — customer-first strategy validated.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Vendor Spend Analysis  |  Concentration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22 active vendors — top 5 hardware vendors = $333.6M = 48.6% of total spend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solidFill>
            <a:srgbClr val="FCE4D6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HIGH CONCENTRATION RISK:  Top 5 vendors = $333.6M = 48.6% of total IT spend.  This creates dependency risk but also significant multi-year contract renegotiation leverage. Estimated savings: $26M–$40M with bundled renegotiation.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67726"/>
              </p:ext>
            </p:extLst>
          </p:nvPr>
        </p:nvGraphicFramePr>
        <p:xfrm>
          <a:off x="320040" y="169164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7406640" y="1691640"/>
            <a:ext cx="448056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17099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7099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5-Yr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7099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% Tot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17099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Est.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066543"/>
            <a:ext cx="4480560" cy="86868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792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Hardware (Top 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10312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$333.6M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1031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48.6%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414015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75623"/>
                </a:solidFill>
                <a:latin typeface="Calibri"/>
              </a:rPr>
              <a:t>$26M–$40M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660903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Cisco, HPE, Dell, NetApp, Lenovo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999232"/>
            <a:ext cx="4480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9792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03580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$105.7M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0358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15.4%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346703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75623"/>
                </a:solidFill>
                <a:latin typeface="Calibri"/>
              </a:rPr>
              <a:t>~$10M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593591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Cognizant, Accenture, Infosys, Deloitte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931920"/>
            <a:ext cx="4480560" cy="86868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9792" y="3968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Cloud Platforms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396849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$62.9M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9684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9.2%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4279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75623"/>
                </a:solidFill>
                <a:latin typeface="Calibri"/>
              </a:rPr>
              <a:t>~$27M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45262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AWS, Azure, GCP, Databricks, Snowflake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864608"/>
            <a:ext cx="4480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9792" y="4901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Software/SaaS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49011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$59.5M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9011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8.7%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521208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75623"/>
                </a:solidFill>
                <a:latin typeface="Calibri"/>
              </a:rPr>
              <a:t>~$10M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545896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Oracle, Adobe, Atlassian, SAP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199632"/>
            <a:ext cx="11521440" cy="502920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23620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F3864"/>
                </a:solidFill>
                <a:latin typeface="Calibri"/>
              </a:rPr>
              <a:t>RECOMMENDATION: Initiate vendor consolidation program for top 5 hardware vendors ($333.6M at risk). Bundled multi-year agreements across Cisco/HPE/Dell/NetApp/Lenovo should target 8–12% savings = $26M–$40M. Assign procurement lead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vs. Run Spend  |  Strategic Investment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Project = discretionary transformation  |  Run = Cloud + Infrastructure +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11521440" cy="347472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Project budget is structurally flat at ~$49M/year for all 5 years (range: $47.5M–$49.7M).  This is a fixed ceiling, not a strategy-driven allocation.  Action required: zero-based project budgeting.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359008"/>
              </p:ext>
            </p:extLst>
          </p:nvPr>
        </p:nvGraphicFramePr>
        <p:xfrm>
          <a:off x="320040" y="1493000"/>
          <a:ext cx="7315200" cy="4999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7772400" y="1627632"/>
            <a:ext cx="411480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827264" y="164592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164592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64592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4592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164592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Proj%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93392"/>
            <a:ext cx="4114800" cy="7772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7827264" y="219456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FY2021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19456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$47.5M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19456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$88.5M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9456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$136.0M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2194560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34.9%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798064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7827264" y="2999232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FY2022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6" y="2999232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$49.4M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999232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$92.1M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999232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$141.5M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2999232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34.9%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602736"/>
            <a:ext cx="4114800" cy="7772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7827264" y="3803904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FY2023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803904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$49.6M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3803904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$85.7M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803904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$135.3M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5952" y="3803904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36.7%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407408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7827264" y="4608576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FY2024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4608576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$49.7M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4608576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$89.4M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608576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$139.1M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5952" y="4608576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35.7%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212080"/>
            <a:ext cx="4114800" cy="777240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7827264" y="5413248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FY2025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1936" y="5413248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$49.4M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8" y="5413248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$84.9M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5413248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$134.3M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5952" y="5413248"/>
            <a:ext cx="749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36.8%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6016752"/>
            <a:ext cx="4114800" cy="777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7827264" y="621792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F3864"/>
                </a:solidFill>
                <a:latin typeface="Calibri"/>
              </a:rPr>
              <a:t>5-YR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621792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04040"/>
                </a:solidFill>
                <a:latin typeface="Calibri"/>
              </a:rPr>
              <a:t>$245.6M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6608" y="621792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04040"/>
                </a:solidFill>
                <a:latin typeface="Calibri"/>
              </a:rPr>
              <a:t>$440.7M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621792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04040"/>
                </a:solidFill>
                <a:latin typeface="Calibri"/>
              </a:rPr>
              <a:t>$686.3M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45952" y="6217920"/>
            <a:ext cx="749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04040"/>
                </a:solidFill>
                <a:latin typeface="Calibri"/>
              </a:rPr>
              <a:t>35.8%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Cloud Spend Analysis  |  Declining 7.4% Over 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$184.7M cloud portfolio — AWS, Azure, Google Cloud, Databricks, Snowflake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454077"/>
              </p:ext>
            </p:extLst>
          </p:nvPr>
        </p:nvGraphicFramePr>
        <p:xfrm>
          <a:off x="320040" y="1170432"/>
          <a:ext cx="71323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635240" y="1170432"/>
            <a:ext cx="425196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1188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Cloud Vendor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1188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5-Yr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7" y="1188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%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3928" y="1188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536192"/>
            <a:ext cx="4251960" cy="658368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1591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Databricks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59105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$22.8M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15910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190195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AI/ML data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221991"/>
            <a:ext cx="4251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22768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Google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27685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$22.2M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2768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12.0%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587751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Data &amp;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2907791"/>
            <a:ext cx="4251960" cy="658368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9626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Snowflake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6265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$22.5M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962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273551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Cloud data warehouse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3593591"/>
            <a:ext cx="4251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36484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Amazon Web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64845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$21.2M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36484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95935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IaaS / PaaS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4279392"/>
            <a:ext cx="4251960" cy="658368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79" y="4334255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Microsoft Azure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334255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472C4"/>
                </a:solidFill>
                <a:latin typeface="Calibri"/>
              </a:rPr>
              <a:t>$19.5M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4334255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  <a:latin typeface="Calibri"/>
              </a:rPr>
              <a:t>10.5%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64515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6A6A6"/>
                </a:solidFill>
                <a:latin typeface="Calibri"/>
              </a:rPr>
              <a:t>Enterprise cloud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919472"/>
            <a:ext cx="11521440" cy="731520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956048"/>
            <a:ext cx="11155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  <a:latin typeface="Calibri"/>
              </a:rPr>
              <a:t>FINDING:  Cloud spend declining 7.4% over 5 years ($38.8M→$35.9M).
TWO POSSIBLE INTERPRETATIONS:  (1) Cloud optimization success — cost-per-unit is falling.  (2) Strategic underinvestment — cloud-first strategy is stalling.
RECOMMENDED ACTION:  Cloud spend audit + Cloud Center of Excellence to make this determination.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Financial Risks  |  IT Portfolio Risk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Five identified risks — likelihood, impact, and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" cy="5897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11612880" cy="1005840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960120" cy="1005840"/>
          </a:xfrm>
          <a:prstGeom prst="rect">
            <a:avLst/>
          </a:prstGeom>
          <a:solidFill>
            <a:srgbClr val="FCE4D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5087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0000"/>
                </a:solidFill>
                <a:latin typeface="Calibri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Vendor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618488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Top 5 vendors = $333.6M (48.6%). Single-source risk across hardware stack.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2893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Likelihood: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58191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Impact: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289304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alibri"/>
              </a:rPr>
              <a:t>MITIGATION: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563624"/>
            <a:ext cx="6309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Multi-vendor strategy; bundled renegotiation. Savings est.: $26M–$40M.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313432"/>
            <a:ext cx="960120" cy="100584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58775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368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Infrastructure Decline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69748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Infra spend fell 12% FY2021→FY2025 ($31.0M→$26.7M). Aging asset risk accelerating.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Likelihood: 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6609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Impact: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368296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alibri"/>
              </a:rPr>
              <a:t>MITIGATION: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642616"/>
            <a:ext cx="6309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Infrastructure modernization roadmap. Cloud migration prioritized.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92424"/>
            <a:ext cx="116128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392424"/>
            <a:ext cx="960120" cy="100584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366674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447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Cloud Spend Declining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776472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Cloud down 7.4% over 5 years. Optimization or strategic underinvestment — unclear.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44728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Likelihood: 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7398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Impact: 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447288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alibri"/>
              </a:rPr>
              <a:t>MITIGATION: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721608"/>
            <a:ext cx="6309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Cloud spend audit. Establish Cloud CoE. Determine cause before cutting further.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71416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471416"/>
            <a:ext cx="960120" cy="100584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4745736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Flat Project 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855464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$49M/yr project spend for 5 consecutive years — structural ceiling, not strategic sizing.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52628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Likelihood: 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81888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Impact: 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526280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alibri"/>
              </a:rPr>
              <a:t>MITIGATION: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800600"/>
            <a:ext cx="6309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Zero-based project budgeting. FY2027 planning cycle redesign.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0408"/>
            <a:ext cx="1161288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4320" y="5550408"/>
            <a:ext cx="960120" cy="1005840"/>
          </a:xfrm>
          <a:prstGeom prst="rect">
            <a:avLst/>
          </a:prstGeom>
          <a:solidFill>
            <a:srgbClr val="FFF2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582472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605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Cyber Underinvestment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934456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13.6% of IT budget vs. 15–20% benchmark. Threat landscape is widening.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6052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Likelihood: Medium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89788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Impact: 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5605272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alibri"/>
              </a:rPr>
              <a:t>MITIGATION: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879592"/>
            <a:ext cx="6309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Present board-level risk case. Increase Cyber to 15% target (~+$6.9M/yr).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Savings Opportunities  |  $63M–$87M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9–13% of total 5-year spend — near-term actions with clear 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" cy="58978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11612880" cy="475488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75623"/>
                </a:solidFill>
                <a:latin typeface="Calibri"/>
              </a:rPr>
              <a:t>TOTAL IDENTIFIED SAVINGS OPPORTUNITY:  $63M – $87M  |  Represents 9–13% of total 5-year IT spend  |  All opportunities are actionable within 24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55648"/>
            <a:ext cx="11612880" cy="877824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755648"/>
            <a:ext cx="384048" cy="87782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8105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Vendor Consolidation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57984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Renegotiate top 5 hardware vendor contracts (Cisco, HPE, Dell, NetApp, Lenovo = $333.6M). Bundled multi-year agreements. Target 8–12% savings.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8836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$26M–$40M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2494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Est.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F5597"/>
                </a:solidFill>
                <a:latin typeface="Calibri"/>
              </a:rPr>
              <a:t>0–12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286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06624"/>
            <a:ext cx="1161288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706624"/>
            <a:ext cx="384048" cy="87782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287121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761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Cloud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108960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Rationalize 5 cloud providers. Right-size compute. Eliminate idle resources. Cloud spend = $184.7M. Industry benchmark: 15% optimization achievable.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8346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~$27M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004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Est. savings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962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F5597"/>
                </a:solidFill>
                <a:latin typeface="Calibri"/>
              </a:rPr>
              <a:t>3–9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236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Timeline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57600"/>
            <a:ext cx="11612880" cy="877824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384048" cy="87782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3822191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712463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Software License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059936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SaaS and perpetual license audit across $101.1M software portfolio. Remove unused licenses, consolidate overlapping tools.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78561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~$10M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1513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Est. savings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9136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F5597"/>
                </a:solidFill>
                <a:latin typeface="Calibri"/>
              </a:rPr>
              <a:t>3–6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1879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Timeline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08576"/>
            <a:ext cx="1161288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4608576"/>
            <a:ext cx="384048" cy="87782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47731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663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Project Rationalization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010912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Apply ROI scoring to $245.6M project portfolio. Eliminate low-return initiatives. Redirect to highest-impact transformation programs.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7365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$5M–$10M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Est. savings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864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F5597"/>
                </a:solidFill>
                <a:latin typeface="Calibri"/>
              </a:rPr>
              <a:t>6–12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1389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Timeline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559552"/>
            <a:ext cx="11612880" cy="877824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5559552"/>
            <a:ext cx="384048" cy="87782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57241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561441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Infrastructure Migration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961888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Shift $154.9M infrastructure spend toward cloud-first model. Reduce hardware refresh cycles and data center footprint.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6875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Long-term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6053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Est. savings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8155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F5597"/>
                </a:solidFill>
                <a:latin typeface="Calibri"/>
              </a:rPr>
              <a:t>12–24 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0899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6A6A6"/>
                </a:solidFill>
                <a:latin typeface="Calibri"/>
              </a:rPr>
              <a:t>Timeline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Recommendations  |  Prioritized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Three horizons: Immediate (0–90 days), Short-Term (90–180 days), Medium-Term (6–12 months)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70432"/>
            <a:ext cx="1161288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GOVERNANCE RECOMMENDATION:  Establish a Quarterly IT Finance Review Board with CIO, CFO, and all BU leads. This dataset becomes the standing reporting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3749039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276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IMMEDIATE
0–90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66543"/>
            <a:ext cx="3749039" cy="21945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066543"/>
            <a:ext cx="73152" cy="2194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2176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579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Vendor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523744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Engage top 5 hardware vendors for bundled renegotiation. $333.6M at risk. Assign procurement lead. Target: $26M–$40M savings.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0831"/>
            <a:ext cx="3749039" cy="21945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370831"/>
            <a:ext cx="73152" cy="2194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4480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IT Finance Reporting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828031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Distribute monthly dashboard to CIO, CFO, and all BU leads. Use this 5-year dataset as the governance baseline.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627632"/>
            <a:ext cx="3749039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2544" y="16276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SHORT-TERM
90–180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2066543"/>
            <a:ext cx="3749039" cy="21945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61104" y="2066543"/>
            <a:ext cx="73152" cy="2194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5696" y="2176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21579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Cloud Center of Excellence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2523744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Govern $184.7M cloud portfolio. Conduct spend audit. Target 15% reduction = ~$27M. Resolve the decline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1104" y="4370831"/>
            <a:ext cx="3749039" cy="21945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61104" y="4370831"/>
            <a:ext cx="73152" cy="2194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25696" y="4480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446227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Cybersecurity Budget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4828031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Business case for increasing Cyber to 15% of IT budget (from 13.6%). Quantify threat exposure vs. underspend.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1627632"/>
            <a:ext cx="3749039" cy="365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8" y="16276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MEDIUM-TERM
6–12 Months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2066543"/>
            <a:ext cx="3749039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47888" y="2066543"/>
            <a:ext cx="73152" cy="2194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2176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597"/>
                </a:solidFill>
                <a:latin typeface="Calibri"/>
              </a:rPr>
              <a:t>5.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21579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Zero-Based Project Budgeting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523744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Break the $49M/yr ceiling. FY2027 planning: size project investment to strategic outcomes, not to a fixed allocation.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7888" y="4370831"/>
            <a:ext cx="3749039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247888" y="4370831"/>
            <a:ext cx="73152" cy="2194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4480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597"/>
                </a:solidFill>
                <a:latin typeface="Calibri"/>
              </a:rPr>
              <a:t>6.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446227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AI Investment 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828031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$68.1M in AI Enablement (56.7% of D&amp;A budget). Establish ROI accountability board. Prioritize highest-return AI programs.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153912"/>
            <a:ext cx="11521440" cy="502920"/>
          </a:xfrm>
          <a:prstGeom prst="rect">
            <a:avLst/>
          </a:prstGeom>
          <a:solidFill>
            <a:srgbClr val="DCE6F1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19048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F3864"/>
                </a:solidFill>
                <a:latin typeface="Calibri"/>
              </a:rPr>
              <a:t>The single highest-ROI action: vendor consolidation. $333.6M with 5 vendors — this is a procurement negotiation waiting to happen. Cloud governance and Cyber investment follow. Long-term: break the project ceiling.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 |  Methodology &amp; Data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Dataset specifications, GL account reference, spend type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6A6A6"/>
                </a:solidFill>
                <a:latin typeface="Calibri"/>
              </a:rPr>
              <a:t>NEXORA TECHNOLOGIES  |  IT Finance Portfolio Review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02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5394960" cy="32918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DATASET SPECIFICATIONS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27048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1563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Source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5636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Nexora_Transactional_IT_Dataset.xlsx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74519"/>
            <a:ext cx="539496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191109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Primary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91109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Raw 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21991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2258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258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19,884 transactions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69464"/>
            <a:ext cx="539496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Date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06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Jan 2021 – Dec 2025 (60 months)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16936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2953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BUs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953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64408"/>
            <a:ext cx="539496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3009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Cost Centers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3009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3648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Vendors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648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59352"/>
            <a:ext cx="539496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" y="3995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Spend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3995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06824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GL 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343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54296"/>
            <a:ext cx="539496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4690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alibri"/>
              </a:rPr>
              <a:t>Grand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4690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$686,332,186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1170432"/>
            <a:ext cx="589788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1188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GL ACCOUNT REFERENCE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1527048"/>
            <a:ext cx="5897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15636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5636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Cloud Hosting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1874519"/>
            <a:ext cx="589788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0760" y="191109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191109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Professional Services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221991"/>
            <a:ext cx="5897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60" y="22585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612300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22585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Software Licensing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2569464"/>
            <a:ext cx="589788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8076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612400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26060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Infrastructure Hardware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2916936"/>
            <a:ext cx="5897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80760" y="2953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612500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29535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Consulting Services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3264408"/>
            <a:ext cx="589788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807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612600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3300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Security Tools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611880"/>
            <a:ext cx="5897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0760" y="36484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612700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36484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Employee Training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3959352"/>
            <a:ext cx="5897880" cy="329184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80760" y="39959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3864"/>
                </a:solidFill>
                <a:latin typeface="Calibri"/>
              </a:rPr>
              <a:t>612800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0" y="39959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Calibri"/>
              </a:rPr>
              <a:t>Data Platform Services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074920"/>
            <a:ext cx="11521440" cy="29260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09320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SPEND TYPE DEFINITIONS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413248"/>
            <a:ext cx="2834640" cy="117043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1479" y="5468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5623"/>
                </a:solidFill>
                <a:latin typeface="Calibri"/>
              </a:rPr>
              <a:t>Project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79" y="57790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Discretionary transformation. New capabilities, platforms, systems.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0" y="5413248"/>
            <a:ext cx="2834640" cy="1170432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383280" y="5468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5597"/>
                </a:solidFill>
                <a:latin typeface="Calibri"/>
              </a:rPr>
              <a:t>Cloud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57790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Hosted compute, storage, SaaS infrastructure. Public cloud services.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5413248"/>
            <a:ext cx="2834640" cy="11704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55079" y="5468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4000"/>
                </a:solidFill>
                <a:latin typeface="Calibri"/>
              </a:rPr>
              <a:t>Infrastructure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55079" y="57790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On-premise hardware: servers, networking, storage, data center.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5413248"/>
            <a:ext cx="2834640" cy="1170432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326880" y="5468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5597"/>
                </a:solidFill>
                <a:latin typeface="Calibri"/>
              </a:rPr>
              <a:t>Software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57790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Commercial licenses, SaaS subscriptions, enterprise application fees.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2387</Words>
  <Application>Microsoft Office PowerPoint</Application>
  <PresentationFormat>Widescreen</PresentationFormat>
  <Paragraphs>462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Thomas</cp:lastModifiedBy>
  <cp:revision>1</cp:revision>
  <dcterms:created xsi:type="dcterms:W3CDTF">2013-01-27T09:14:16Z</dcterms:created>
  <dcterms:modified xsi:type="dcterms:W3CDTF">2026-06-02T03:46:56Z</dcterms:modified>
  <cp:category/>
</cp:coreProperties>
</file>